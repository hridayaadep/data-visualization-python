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8" r:id="rId1"/>
  </p:sldMasterIdLst>
  <p:sldIdLst>
    <p:sldId id="256" r:id="rId2"/>
    <p:sldId id="258" r:id="rId3"/>
    <p:sldId id="259" r:id="rId4"/>
    <p:sldId id="269" r:id="rId5"/>
    <p:sldId id="260" r:id="rId6"/>
    <p:sldId id="261" r:id="rId7"/>
    <p:sldId id="262" r:id="rId8"/>
    <p:sldId id="264" r:id="rId9"/>
    <p:sldId id="265" r:id="rId10"/>
    <p:sldId id="266" r:id="rId11"/>
    <p:sldId id="277" r:id="rId12"/>
    <p:sldId id="273" r:id="rId13"/>
    <p:sldId id="274" r:id="rId14"/>
    <p:sldId id="272" r:id="rId15"/>
    <p:sldId id="276" r:id="rId16"/>
    <p:sldId id="275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oni Warang" userId="56a4ecac6d65108b" providerId="LiveId" clId="{9B2BD3CD-9CFD-401A-88B0-AC53997435E0}"/>
    <pc:docChg chg="undo custSel modSld">
      <pc:chgData name="Saloni Warang" userId="56a4ecac6d65108b" providerId="LiveId" clId="{9B2BD3CD-9CFD-401A-88B0-AC53997435E0}" dt="2026-03-15T17:59:40.423" v="522" actId="1076"/>
      <pc:docMkLst>
        <pc:docMk/>
      </pc:docMkLst>
      <pc:sldChg chg="modSp mod">
        <pc:chgData name="Saloni Warang" userId="56a4ecac6d65108b" providerId="LiveId" clId="{9B2BD3CD-9CFD-401A-88B0-AC53997435E0}" dt="2026-03-15T17:59:40.423" v="522" actId="1076"/>
        <pc:sldMkLst>
          <pc:docMk/>
          <pc:sldMk cId="875491453" sldId="256"/>
        </pc:sldMkLst>
        <pc:spChg chg="mod">
          <ac:chgData name="Saloni Warang" userId="56a4ecac6d65108b" providerId="LiveId" clId="{9B2BD3CD-9CFD-401A-88B0-AC53997435E0}" dt="2026-03-15T17:59:12.275" v="521" actId="121"/>
          <ac:spMkLst>
            <pc:docMk/>
            <pc:sldMk cId="875491453" sldId="256"/>
            <ac:spMk id="2" creationId="{03E2BC67-1363-B872-F6B9-C6AF19D58812}"/>
          </ac:spMkLst>
        </pc:spChg>
        <pc:spChg chg="mod">
          <ac:chgData name="Saloni Warang" userId="56a4ecac6d65108b" providerId="LiveId" clId="{9B2BD3CD-9CFD-401A-88B0-AC53997435E0}" dt="2026-03-15T17:59:40.423" v="522" actId="1076"/>
          <ac:spMkLst>
            <pc:docMk/>
            <pc:sldMk cId="875491453" sldId="256"/>
            <ac:spMk id="3" creationId="{D0FB746E-6E1E-96F2-513B-827FF57B3DBB}"/>
          </ac:spMkLst>
        </pc:spChg>
      </pc:sldChg>
      <pc:sldChg chg="modSp mod">
        <pc:chgData name="Saloni Warang" userId="56a4ecac6d65108b" providerId="LiveId" clId="{9B2BD3CD-9CFD-401A-88B0-AC53997435E0}" dt="2026-03-15T17:43:11.651" v="108" actId="20577"/>
        <pc:sldMkLst>
          <pc:docMk/>
          <pc:sldMk cId="2801098393" sldId="258"/>
        </pc:sldMkLst>
        <pc:spChg chg="mod">
          <ac:chgData name="Saloni Warang" userId="56a4ecac6d65108b" providerId="LiveId" clId="{9B2BD3CD-9CFD-401A-88B0-AC53997435E0}" dt="2026-03-15T17:43:11.651" v="108" actId="20577"/>
          <ac:spMkLst>
            <pc:docMk/>
            <pc:sldMk cId="2801098393" sldId="258"/>
            <ac:spMk id="3" creationId="{6A30A0A2-B0E6-DE5F-E039-C55641EAF932}"/>
          </ac:spMkLst>
        </pc:spChg>
      </pc:sldChg>
      <pc:sldChg chg="modSp mod">
        <pc:chgData name="Saloni Warang" userId="56a4ecac6d65108b" providerId="LiveId" clId="{9B2BD3CD-9CFD-401A-88B0-AC53997435E0}" dt="2026-03-15T17:50:11.935" v="111" actId="20577"/>
        <pc:sldMkLst>
          <pc:docMk/>
          <pc:sldMk cId="46732974" sldId="259"/>
        </pc:sldMkLst>
        <pc:spChg chg="mod">
          <ac:chgData name="Saloni Warang" userId="56a4ecac6d65108b" providerId="LiveId" clId="{9B2BD3CD-9CFD-401A-88B0-AC53997435E0}" dt="2026-03-15T17:50:11.935" v="111" actId="20577"/>
          <ac:spMkLst>
            <pc:docMk/>
            <pc:sldMk cId="46732974" sldId="259"/>
            <ac:spMk id="4" creationId="{37316216-BFA3-E411-1B14-4FE7A2477827}"/>
          </ac:spMkLst>
        </pc:spChg>
      </pc:sldChg>
      <pc:sldChg chg="modSp mod">
        <pc:chgData name="Saloni Warang" userId="56a4ecac6d65108b" providerId="LiveId" clId="{9B2BD3CD-9CFD-401A-88B0-AC53997435E0}" dt="2026-03-15T17:51:16.733" v="171" actId="1076"/>
        <pc:sldMkLst>
          <pc:docMk/>
          <pc:sldMk cId="2945912682" sldId="260"/>
        </pc:sldMkLst>
        <pc:spChg chg="mod">
          <ac:chgData name="Saloni Warang" userId="56a4ecac6d65108b" providerId="LiveId" clId="{9B2BD3CD-9CFD-401A-88B0-AC53997435E0}" dt="2026-03-15T17:51:10.275" v="168" actId="20577"/>
          <ac:spMkLst>
            <pc:docMk/>
            <pc:sldMk cId="2945912682" sldId="260"/>
            <ac:spMk id="6" creationId="{E2853DAC-BED3-BF11-4476-958712F3FEA9}"/>
          </ac:spMkLst>
        </pc:spChg>
        <pc:picChg chg="mod">
          <ac:chgData name="Saloni Warang" userId="56a4ecac6d65108b" providerId="LiveId" clId="{9B2BD3CD-9CFD-401A-88B0-AC53997435E0}" dt="2026-03-15T17:51:16.733" v="171" actId="1076"/>
          <ac:picMkLst>
            <pc:docMk/>
            <pc:sldMk cId="2945912682" sldId="260"/>
            <ac:picMk id="10" creationId="{52387F5D-F182-29E6-84B6-7CE7002401C3}"/>
          </ac:picMkLst>
        </pc:picChg>
        <pc:picChg chg="mod">
          <ac:chgData name="Saloni Warang" userId="56a4ecac6d65108b" providerId="LiveId" clId="{9B2BD3CD-9CFD-401A-88B0-AC53997435E0}" dt="2026-03-15T17:51:14.752" v="170" actId="1076"/>
          <ac:picMkLst>
            <pc:docMk/>
            <pc:sldMk cId="2945912682" sldId="260"/>
            <ac:picMk id="12" creationId="{590E1FB7-FF45-2BAA-56F9-C8CDF8A53D10}"/>
          </ac:picMkLst>
        </pc:picChg>
      </pc:sldChg>
      <pc:sldChg chg="modSp mod">
        <pc:chgData name="Saloni Warang" userId="56a4ecac6d65108b" providerId="LiveId" clId="{9B2BD3CD-9CFD-401A-88B0-AC53997435E0}" dt="2026-03-15T17:52:44.255" v="246" actId="1076"/>
        <pc:sldMkLst>
          <pc:docMk/>
          <pc:sldMk cId="1811596643" sldId="261"/>
        </pc:sldMkLst>
        <pc:spChg chg="mod">
          <ac:chgData name="Saloni Warang" userId="56a4ecac6d65108b" providerId="LiveId" clId="{9B2BD3CD-9CFD-401A-88B0-AC53997435E0}" dt="2026-03-15T17:51:58.298" v="242" actId="20577"/>
          <ac:spMkLst>
            <pc:docMk/>
            <pc:sldMk cId="1811596643" sldId="261"/>
            <ac:spMk id="3" creationId="{945EA815-76FE-86A6-B751-4A5B3C194429}"/>
          </ac:spMkLst>
        </pc:spChg>
        <pc:picChg chg="mod modCrop">
          <ac:chgData name="Saloni Warang" userId="56a4ecac6d65108b" providerId="LiveId" clId="{9B2BD3CD-9CFD-401A-88B0-AC53997435E0}" dt="2026-03-15T17:52:44.255" v="246" actId="1076"/>
          <ac:picMkLst>
            <pc:docMk/>
            <pc:sldMk cId="1811596643" sldId="261"/>
            <ac:picMk id="5" creationId="{A654E57C-6D43-2861-BC4E-ADAF9A46210E}"/>
          </ac:picMkLst>
        </pc:picChg>
      </pc:sldChg>
      <pc:sldChg chg="modSp mod">
        <pc:chgData name="Saloni Warang" userId="56a4ecac6d65108b" providerId="LiveId" clId="{9B2BD3CD-9CFD-401A-88B0-AC53997435E0}" dt="2026-03-15T17:53:45.727" v="320" actId="20577"/>
        <pc:sldMkLst>
          <pc:docMk/>
          <pc:sldMk cId="1124916712" sldId="267"/>
        </pc:sldMkLst>
        <pc:spChg chg="mod">
          <ac:chgData name="Saloni Warang" userId="56a4ecac6d65108b" providerId="LiveId" clId="{9B2BD3CD-9CFD-401A-88B0-AC53997435E0}" dt="2026-03-15T17:53:45.727" v="320" actId="20577"/>
          <ac:spMkLst>
            <pc:docMk/>
            <pc:sldMk cId="1124916712" sldId="267"/>
            <ac:spMk id="3" creationId="{30941920-787A-9EE7-4448-24FF4978A1E5}"/>
          </ac:spMkLst>
        </pc:spChg>
      </pc:sldChg>
      <pc:sldChg chg="modSp mod">
        <pc:chgData name="Saloni Warang" userId="56a4ecac6d65108b" providerId="LiveId" clId="{9B2BD3CD-9CFD-401A-88B0-AC53997435E0}" dt="2026-03-15T17:54:05.173" v="335" actId="20577"/>
        <pc:sldMkLst>
          <pc:docMk/>
          <pc:sldMk cId="3929373907" sldId="268"/>
        </pc:sldMkLst>
        <pc:spChg chg="mod">
          <ac:chgData name="Saloni Warang" userId="56a4ecac6d65108b" providerId="LiveId" clId="{9B2BD3CD-9CFD-401A-88B0-AC53997435E0}" dt="2026-03-15T17:54:05.173" v="335" actId="20577"/>
          <ac:spMkLst>
            <pc:docMk/>
            <pc:sldMk cId="3929373907" sldId="268"/>
            <ac:spMk id="2" creationId="{6F1EB480-9429-0D90-5FEB-CCF2D9D3E755}"/>
          </ac:spMkLst>
        </pc:spChg>
        <pc:spChg chg="mod">
          <ac:chgData name="Saloni Warang" userId="56a4ecac6d65108b" providerId="LiveId" clId="{9B2BD3CD-9CFD-401A-88B0-AC53997435E0}" dt="2026-03-15T17:54:03.381" v="334" actId="20577"/>
          <ac:spMkLst>
            <pc:docMk/>
            <pc:sldMk cId="3929373907" sldId="268"/>
            <ac:spMk id="3" creationId="{D088F6CC-ADCF-EDB2-989E-8285058FA1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5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79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9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98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0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66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75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5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542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95372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1305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30385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728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769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14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3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BC67-1363-B872-F6B9-C6AF19D58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58529"/>
            <a:ext cx="7766936" cy="238923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Visualization of Smartphone Usage And Addiction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B746E-6E1E-96F2-513B-827FF57B3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6755" y="3854245"/>
            <a:ext cx="8333658" cy="2507226"/>
          </a:xfrm>
        </p:spPr>
        <p:txBody>
          <a:bodyPr numCol="1">
            <a:normAutofit fontScale="92500" lnSpcReduction="20000"/>
          </a:bodyPr>
          <a:lstStyle/>
          <a:p>
            <a:pPr algn="l"/>
            <a:r>
              <a:rPr lang="en-IN" dirty="0"/>
              <a:t>P</a:t>
            </a:r>
            <a:r>
              <a:rPr lang="en-IN" sz="2000" dirty="0"/>
              <a:t>resented By:</a:t>
            </a:r>
          </a:p>
          <a:p>
            <a:pPr algn="l"/>
            <a:r>
              <a:rPr lang="en-IN" sz="2000" dirty="0"/>
              <a:t>Arpita Teli</a:t>
            </a:r>
          </a:p>
          <a:p>
            <a:pPr algn="l"/>
            <a:r>
              <a:rPr lang="en-IN" sz="2000" dirty="0"/>
              <a:t>Kalyani Nair</a:t>
            </a:r>
          </a:p>
          <a:p>
            <a:pPr algn="l"/>
            <a:r>
              <a:rPr lang="en-IN" sz="2000" dirty="0"/>
              <a:t>Vishakha Deshmane</a:t>
            </a:r>
          </a:p>
          <a:p>
            <a:pPr algn="l"/>
            <a:r>
              <a:rPr lang="en-IN" sz="2000" dirty="0"/>
              <a:t>Hridaya Adep</a:t>
            </a:r>
          </a:p>
          <a:p>
            <a:pPr algn="l"/>
            <a:r>
              <a:rPr lang="en-IN" sz="2000" dirty="0"/>
              <a:t>Saloni </a:t>
            </a:r>
            <a:r>
              <a:rPr lang="en-IN" sz="2000" dirty="0" err="1"/>
              <a:t>Warang</a:t>
            </a:r>
            <a:endParaRPr lang="en-IN" sz="2000" dirty="0"/>
          </a:p>
          <a:p>
            <a:pPr algn="l"/>
            <a:r>
              <a:rPr lang="en-IN" sz="2000" dirty="0"/>
              <a:t>Soham Wankhede</a:t>
            </a:r>
          </a:p>
        </p:txBody>
      </p:sp>
    </p:spTree>
    <p:extLst>
      <p:ext uri="{BB962C8B-B14F-4D97-AF65-F5344CB8AC3E}">
        <p14:creationId xmlns:p14="http://schemas.microsoft.com/office/powerpoint/2010/main" val="87549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2764-E98F-D8D8-D72E-49BAE49D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A0A2-B0E6-DE5F-E039-C55641EA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Domain: </a:t>
            </a:r>
            <a:r>
              <a:rPr lang="en-IN" b="1" dirty="0"/>
              <a:t>DIGITAL BEHAVIOR/ SMARTPHONE USAGE ANALYTICS</a:t>
            </a:r>
          </a:p>
          <a:p>
            <a:r>
              <a:rPr lang="en-IN" dirty="0"/>
              <a:t>Objective: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Analyze</a:t>
            </a:r>
            <a:r>
              <a:rPr lang="en-IN" dirty="0"/>
              <a:t> how </a:t>
            </a:r>
            <a:r>
              <a:rPr lang="en-IN" b="1" dirty="0"/>
              <a:t>users spend time </a:t>
            </a:r>
            <a:r>
              <a:rPr lang="en-IN" dirty="0"/>
              <a:t>on their smartphones.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Study </a:t>
            </a:r>
            <a:r>
              <a:rPr lang="en-IN" b="1" dirty="0"/>
              <a:t>relationship</a:t>
            </a:r>
            <a:r>
              <a:rPr lang="en-IN" dirty="0"/>
              <a:t> between screen time and smartphone addiction.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Identify </a:t>
            </a:r>
            <a:r>
              <a:rPr lang="en-IN" dirty="0" err="1"/>
              <a:t>behavioral</a:t>
            </a:r>
            <a:r>
              <a:rPr lang="en-IN" dirty="0"/>
              <a:t> patterns.</a:t>
            </a:r>
          </a:p>
          <a:p>
            <a:r>
              <a:rPr lang="en-IN" dirty="0"/>
              <a:t>Dataset Size: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7500 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16 variables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Mix of numerical and categorical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09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93BA-7606-925C-9A29-539406A2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00CD7-563B-676B-6298-EC52704361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Nominal Data (Categories without order)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gender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transaction_id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user_id</a:t>
            </a:r>
            <a:endParaRPr lang="en-IN" dirty="0"/>
          </a:p>
          <a:p>
            <a:r>
              <a:rPr lang="en-IN" dirty="0"/>
              <a:t>Ordinal Data (Categories with order)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addiction_level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stress_level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academic_work_impact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16216-BFA3-E411-1B14-4FE7A24778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Numerical Data (Quantitative)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daily_screen_time_hours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social_media_hours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gaming_hours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sleep_hours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notifications_per_day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app_opens_per_day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weekend_screen_time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addicted_label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3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4EDA-0127-C5BA-FC32-D3B1F176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 and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D6A20-63DA-25B9-06A6-97B81F9A0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505" y="1436679"/>
            <a:ext cx="3496163" cy="1219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4A689F-2C49-6F6D-809B-432E0391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846" y="2836137"/>
            <a:ext cx="5205956" cy="371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81C290-BAF2-09C4-4B03-36CC9A01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74226"/>
            <a:ext cx="8596668" cy="1320800"/>
          </a:xfrm>
        </p:spPr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53DAC-BED3-BF11-4476-958712F3F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653"/>
            <a:ext cx="8596668" cy="4379710"/>
          </a:xfrm>
        </p:spPr>
        <p:txBody>
          <a:bodyPr/>
          <a:lstStyle/>
          <a:p>
            <a:r>
              <a:rPr lang="en-IN" dirty="0"/>
              <a:t>Step 1: Handling Missing Values: Missing values were identified and replaced with median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387F5D-F182-29E6-84B6-7CE700240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6" y="2429365"/>
            <a:ext cx="3559946" cy="2844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0E1FB7-FF45-2BAA-56F9-C8CDF8A53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6" y="5326563"/>
            <a:ext cx="7525800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1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030A-57B9-BE6D-7881-BD7FFB93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EA815-76FE-86A6-B751-4A5B3C19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/>
          <a:lstStyle/>
          <a:p>
            <a:r>
              <a:rPr lang="en-IN" dirty="0"/>
              <a:t>Step 2: Encoding Categorical Data: Categorial variables were converted into numerical form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4E57C-6D43-2861-BC4E-ADAF9A46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2" b="59499"/>
          <a:stretch>
            <a:fillRect/>
          </a:stretch>
        </p:blipFill>
        <p:spPr>
          <a:xfrm>
            <a:off x="1091381" y="2270122"/>
            <a:ext cx="5624052" cy="1462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B59A9-95BF-67F2-E265-92A37315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81" y="3797429"/>
            <a:ext cx="4914416" cy="28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9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F400-4DDE-00D7-7E63-48787969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Descriptive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B6846E-EBAA-9D84-4DA7-E4922155B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655" y="1786963"/>
            <a:ext cx="737548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5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2837B-0736-B05A-A884-E28C4B3F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Box Plot (Outlier Detection)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E14F64-7A64-0E5A-861F-EA6D3074D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24" y="2440768"/>
            <a:ext cx="4862162" cy="4370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F02B52-D89E-940D-FE4F-62376183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1270000"/>
            <a:ext cx="11090787" cy="117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8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6F76-ED8F-DFA5-297C-43F10DCB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Heatmap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C6372-6088-C77E-F14D-E1C83026C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412" y="1471421"/>
            <a:ext cx="6744929" cy="481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6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E155-2951-BAEB-2DDB-88EEFBAA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Addiction Label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DF98D6-1957-24CD-5282-107853884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071" y="1476342"/>
            <a:ext cx="6469626" cy="487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3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E3DF-65BC-E5AE-0102-350EE331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49CF-7832-143C-3E96-44AA4445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 chart for Stress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B53B38-8B4F-A024-AD87-A3F4D7CDC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71" y="1588893"/>
            <a:ext cx="6890171" cy="465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7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03FE-B0C9-9C8E-C316-F4DC8388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Age Group vs Addiction Analysis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A6963-EEEF-F66E-2399-584216EC7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671" y="1355293"/>
            <a:ext cx="7630568" cy="3187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0D5C41-D555-FD97-3EFD-4DB0914E5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1" y="4703876"/>
            <a:ext cx="715427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0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C208-84E1-1E30-EBBC-C9418202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7B7B-F920-6CAA-FE91-D4C0784F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 Age Group vs Addiction Analysis</a:t>
            </a:r>
            <a:br>
              <a:rPr lang="en-US" b="1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9CA90-7DA4-36C6-D9D1-B82B5DEE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21" y="1632155"/>
            <a:ext cx="7364694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3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64B6-6840-74AE-B15B-236FA5D2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3E08-9A08-C1FB-2C29-FCCE1449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419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1E04B6F-DA7D-EB54-B41B-09E541282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273" y="1748463"/>
            <a:ext cx="11671453" cy="433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Improve data preprocessing</a:t>
            </a:r>
            <a:br>
              <a:rPr lang="en-US" b="1" dirty="0"/>
            </a:br>
            <a:r>
              <a:rPr lang="en-US" b="1" dirty="0"/>
              <a:t>Encode categorical variables properly before applying machine learning models.</a:t>
            </a:r>
          </a:p>
          <a:p>
            <a:r>
              <a:rPr lang="en-US" b="1" dirty="0"/>
              <a:t> Use feature engineering</a:t>
            </a:r>
            <a:br>
              <a:rPr lang="en-US" b="1" dirty="0"/>
            </a:br>
            <a:r>
              <a:rPr lang="en-US" b="1" dirty="0"/>
              <a:t>Create new features such as </a:t>
            </a:r>
            <a:r>
              <a:rPr lang="en-US" b="1" dirty="0" err="1"/>
              <a:t>total_screen_time</a:t>
            </a:r>
            <a:r>
              <a:rPr lang="en-US" b="1" dirty="0"/>
              <a:t> = </a:t>
            </a:r>
            <a:r>
              <a:rPr lang="en-US" b="1" dirty="0" err="1"/>
              <a:t>social_media_hours</a:t>
            </a:r>
            <a:r>
              <a:rPr lang="en-US" b="1" dirty="0"/>
              <a:t> + </a:t>
            </a:r>
            <a:r>
              <a:rPr lang="en-US" b="1" dirty="0" err="1"/>
              <a:t>gaming_hours</a:t>
            </a:r>
            <a:r>
              <a:rPr lang="en-US" b="1" dirty="0"/>
              <a:t> + </a:t>
            </a:r>
            <a:r>
              <a:rPr lang="en-US" b="1" dirty="0" err="1"/>
              <a:t>studying_hours</a:t>
            </a:r>
            <a:r>
              <a:rPr lang="en-US" b="1" dirty="0"/>
              <a:t>.</a:t>
            </a:r>
          </a:p>
          <a:p>
            <a:r>
              <a:rPr lang="en-US" b="1" dirty="0"/>
              <a:t> Apply machine learning models</a:t>
            </a:r>
            <a:br>
              <a:rPr lang="en-US" b="1" dirty="0"/>
            </a:br>
            <a:r>
              <a:rPr lang="en-US" b="1" dirty="0"/>
              <a:t>Use classification models like Logistic Regression, Decision Tree, or SVM.</a:t>
            </a:r>
          </a:p>
          <a:p>
            <a:r>
              <a:rPr lang="en-US" b="1" dirty="0"/>
              <a:t> Normalize or scale numeric data</a:t>
            </a:r>
            <a:br>
              <a:rPr lang="en-US" b="1" dirty="0"/>
            </a:br>
            <a:r>
              <a:rPr lang="en-US" b="1" dirty="0" err="1"/>
              <a:t>StandardScaler</a:t>
            </a:r>
            <a:r>
              <a:rPr lang="en-US" b="1" dirty="0"/>
              <a:t> or </a:t>
            </a:r>
            <a:r>
              <a:rPr lang="en-US" b="1" dirty="0" err="1"/>
              <a:t>MinMaxScaler</a:t>
            </a:r>
            <a:r>
              <a:rPr lang="en-US" b="1" dirty="0"/>
              <a:t> can improve model performance.</a:t>
            </a:r>
          </a:p>
          <a:p>
            <a:r>
              <a:rPr lang="en-US" b="1" dirty="0"/>
              <a:t> Perform feature selection</a:t>
            </a:r>
            <a:br>
              <a:rPr lang="en-US" b="1" dirty="0"/>
            </a:br>
            <a:r>
              <a:rPr lang="en-US" b="1" dirty="0"/>
              <a:t>Use correlation analysis to remove irrelevant variables and keep only important features affecting addiction levels.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68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C62B-C053-4175-1F3A-37EB6E43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831-182F-41FB-DC9F-C93A5B4D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419"/>
          </a:xfrm>
        </p:spPr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E165B4-6963-E63B-37BF-6788825900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816" y="1507069"/>
            <a:ext cx="9158046" cy="3621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Better data understanding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EDA helps understand data distribution, patterns, and relationships between variables.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Better predictive modeling</a:t>
            </a:r>
            <a:br>
              <a:rPr lang="en-US" dirty="0"/>
            </a:br>
            <a:r>
              <a:rPr lang="en-US" dirty="0"/>
              <a:t>Clean and processed data improves the accuracy of machine learning models.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Efficient decision making</a:t>
            </a:r>
            <a:br>
              <a:rPr lang="en-US" dirty="0"/>
            </a:br>
            <a:r>
              <a:rPr lang="en-US" dirty="0"/>
              <a:t>Technical analysis helps researchers and developers build systems to monitor and reduce smartphone addiction.</a:t>
            </a:r>
          </a:p>
        </p:txBody>
      </p:sp>
    </p:spTree>
    <p:extLst>
      <p:ext uri="{BB962C8B-B14F-4D97-AF65-F5344CB8AC3E}">
        <p14:creationId xmlns:p14="http://schemas.microsoft.com/office/powerpoint/2010/main" val="76448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4826-9D36-8CD6-4608-80A56240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2739-5FC5-2640-E7B5-FDE07AE7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419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7A1EC0-25FC-A034-5070-70239E9E44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326491"/>
            <a:ext cx="10058400" cy="4452950"/>
          </a:xfrm>
          <a:custGeom>
            <a:avLst/>
            <a:gdLst>
              <a:gd name="csX0" fmla="*/ 0 w 10894142"/>
              <a:gd name="csY0" fmla="*/ 0 h 3118803"/>
              <a:gd name="csX1" fmla="*/ 10894142 w 10894142"/>
              <a:gd name="csY1" fmla="*/ 0 h 3118803"/>
              <a:gd name="csX2" fmla="*/ 10894142 w 10894142"/>
              <a:gd name="csY2" fmla="*/ 3118803 h 3118803"/>
              <a:gd name="csX3" fmla="*/ 0 w 10894142"/>
              <a:gd name="csY3" fmla="*/ 3118803 h 3118803"/>
              <a:gd name="csX4" fmla="*/ 0 w 10894142"/>
              <a:gd name="csY4" fmla="*/ 0 h 3118803"/>
              <a:gd name="csX0" fmla="*/ 0 w 11120284"/>
              <a:gd name="csY0" fmla="*/ 0 h 4249512"/>
              <a:gd name="csX1" fmla="*/ 10894142 w 11120284"/>
              <a:gd name="csY1" fmla="*/ 0 h 4249512"/>
              <a:gd name="csX2" fmla="*/ 11120284 w 11120284"/>
              <a:gd name="csY2" fmla="*/ 4249512 h 4249512"/>
              <a:gd name="csX3" fmla="*/ 0 w 11120284"/>
              <a:gd name="csY3" fmla="*/ 3118803 h 4249512"/>
              <a:gd name="csX4" fmla="*/ 0 w 11120284"/>
              <a:gd name="csY4" fmla="*/ 0 h 42495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120284" h="4249512">
                <a:moveTo>
                  <a:pt x="0" y="0"/>
                </a:moveTo>
                <a:lnTo>
                  <a:pt x="10894142" y="0"/>
                </a:lnTo>
                <a:lnTo>
                  <a:pt x="11120284" y="4249512"/>
                </a:lnTo>
                <a:lnTo>
                  <a:pt x="0" y="31188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Through </a:t>
            </a:r>
            <a:r>
              <a:rPr lang="en-US" b="1" dirty="0"/>
              <a:t>Exploratory Data Analysis (EDA), data cleaning, descriptive statistics, visualization, and correlation analysis</a:t>
            </a:r>
            <a:r>
              <a:rPr lang="en-US" dirty="0"/>
              <a:t>, the dataset was examined to understand user behavior and identify important factors influencing smartphone addiction.</a:t>
            </a:r>
          </a:p>
          <a:p>
            <a:pPr>
              <a:lnSpc>
                <a:spcPct val="150000"/>
              </a:lnSpc>
            </a:pPr>
            <a:r>
              <a:rPr lang="en-US" dirty="0"/>
              <a:t>The visualizations such as </a:t>
            </a:r>
            <a:r>
              <a:rPr lang="en-US" b="1" dirty="0"/>
              <a:t>histograms, boxplots, and heatmaps</a:t>
            </a:r>
            <a:r>
              <a:rPr lang="en-US" dirty="0"/>
              <a:t> helped in identifying data distribution, outliers, and relationships between different variables.</a:t>
            </a:r>
          </a:p>
          <a:p>
            <a:pPr>
              <a:lnSpc>
                <a:spcPct val="150000"/>
              </a:lnSpc>
            </a:pPr>
            <a:r>
              <a:rPr lang="en-US" dirty="0"/>
              <a:t>Overall, the analysis highlights that </a:t>
            </a:r>
            <a:r>
              <a:rPr lang="en-US" b="1" dirty="0"/>
              <a:t>excessive smartphone usage can negatively affect lifestyle habits such as sleep and stress management</a:t>
            </a:r>
            <a:r>
              <a:rPr lang="en-US" dirty="0"/>
              <a:t>. These insights can help researchers, educators, and users understand smartphone usage patterns and encourage healthier digital habits. The findings can also support the development of tools and strategies to </a:t>
            </a:r>
            <a:r>
              <a:rPr lang="en-US" b="1" dirty="0"/>
              <a:t>monitor and reduce smartphone addiction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605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B480-9429-0D90-5FEB-CCF2D9D3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8"/>
            <a:ext cx="8596668" cy="1438514"/>
          </a:xfrm>
        </p:spPr>
        <p:txBody>
          <a:bodyPr>
            <a:normAutofit/>
          </a:bodyPr>
          <a:lstStyle/>
          <a:p>
            <a:pPr algn="ctr"/>
            <a:r>
              <a:rPr lang="en-IN" sz="6600" dirty="0"/>
              <a:t>THANK YOU 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8F6CC-ADCF-EDB2-989E-8285058F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3739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516</TotalTime>
  <Words>493</Words>
  <Application>Microsoft Office PowerPoint</Application>
  <PresentationFormat>Widescreen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Trebuchet MS</vt:lpstr>
      <vt:lpstr>Wingdings</vt:lpstr>
      <vt:lpstr>Wingdings 3</vt:lpstr>
      <vt:lpstr>Facet</vt:lpstr>
      <vt:lpstr>Data Visualization of Smartphone Usage And Addiction Behavior</vt:lpstr>
      <vt:lpstr>Dataset Overview</vt:lpstr>
      <vt:lpstr>Types of Data Used</vt:lpstr>
      <vt:lpstr>Dataset Information and Structure</vt:lpstr>
      <vt:lpstr>Data Cleaning</vt:lpstr>
      <vt:lpstr>Data Cleaning</vt:lpstr>
      <vt:lpstr>Descriptive Statistics</vt:lpstr>
      <vt:lpstr>Box Plot (Outlier Detection)</vt:lpstr>
      <vt:lpstr>Correlation Heatmap</vt:lpstr>
      <vt:lpstr>Addiction Label Distribution</vt:lpstr>
      <vt:lpstr>Pie chart for Stress level</vt:lpstr>
      <vt:lpstr>Age Group vs Addiction Analysis </vt:lpstr>
      <vt:lpstr>  Age Group vs Addiction Analysis </vt:lpstr>
      <vt:lpstr>Recommendations</vt:lpstr>
      <vt:lpstr>Benefits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 Warang</dc:creator>
  <cp:lastModifiedBy>Hridaya Adep</cp:lastModifiedBy>
  <cp:revision>8</cp:revision>
  <dcterms:created xsi:type="dcterms:W3CDTF">2026-03-15T16:44:16Z</dcterms:created>
  <dcterms:modified xsi:type="dcterms:W3CDTF">2026-03-16T17:17:59Z</dcterms:modified>
</cp:coreProperties>
</file>